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e thakur" userId="f3e5fba7346f6fb8" providerId="LiveId" clId="{1C09B967-9617-4F33-9C41-D4A0CE5E31F0}"/>
    <pc:docChg chg="custSel modSld">
      <pc:chgData name="allie thakur" userId="f3e5fba7346f6fb8" providerId="LiveId" clId="{1C09B967-9617-4F33-9C41-D4A0CE5E31F0}" dt="2026-05-18T08:20:52.121" v="227" actId="1076"/>
      <pc:docMkLst>
        <pc:docMk/>
      </pc:docMkLst>
      <pc:sldChg chg="modSp mod">
        <pc:chgData name="allie thakur" userId="f3e5fba7346f6fb8" providerId="LiveId" clId="{1C09B967-9617-4F33-9C41-D4A0CE5E31F0}" dt="2026-05-18T08:19:29.579" v="166" actId="20577"/>
        <pc:sldMkLst>
          <pc:docMk/>
          <pc:sldMk cId="0" sldId="256"/>
        </pc:sldMkLst>
        <pc:spChg chg="mod">
          <ac:chgData name="allie thakur" userId="f3e5fba7346f6fb8" providerId="LiveId" clId="{1C09B967-9617-4F33-9C41-D4A0CE5E31F0}" dt="2026-05-18T08:19:29.579" v="166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19:48.930" v="216" actId="20577"/>
        <pc:sldMkLst>
          <pc:docMk/>
          <pc:sldMk cId="0" sldId="257"/>
        </pc:sldMkLst>
        <pc:spChg chg="mod">
          <ac:chgData name="allie thakur" userId="f3e5fba7346f6fb8" providerId="LiveId" clId="{1C09B967-9617-4F33-9C41-D4A0CE5E31F0}" dt="2026-05-18T08:19:48.930" v="216" actId="20577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allie thakur" userId="f3e5fba7346f6fb8" providerId="LiveId" clId="{1C09B967-9617-4F33-9C41-D4A0CE5E31F0}" dt="2026-05-18T08:19:59.731" v="218" actId="478"/>
        <pc:sldMkLst>
          <pc:docMk/>
          <pc:sldMk cId="0" sldId="258"/>
        </pc:sldMkLst>
        <pc:spChg chg="del">
          <ac:chgData name="allie thakur" userId="f3e5fba7346f6fb8" providerId="LiveId" clId="{1C09B967-9617-4F33-9C41-D4A0CE5E31F0}" dt="2026-05-18T08:19:59.731" v="218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lie thakur" userId="f3e5fba7346f6fb8" providerId="LiveId" clId="{1C09B967-9617-4F33-9C41-D4A0CE5E31F0}" dt="2026-05-18T08:19:56.018" v="217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20:08.353" v="219" actId="20577"/>
        <pc:sldMkLst>
          <pc:docMk/>
          <pc:sldMk cId="0" sldId="260"/>
        </pc:sldMkLst>
        <pc:spChg chg="mod">
          <ac:chgData name="allie thakur" userId="f3e5fba7346f6fb8" providerId="LiveId" clId="{1C09B967-9617-4F33-9C41-D4A0CE5E31F0}" dt="2026-05-18T08:20:08.353" v="219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20:14.463" v="220" actId="20577"/>
        <pc:sldMkLst>
          <pc:docMk/>
          <pc:sldMk cId="0" sldId="262"/>
        </pc:sldMkLst>
        <pc:spChg chg="mod">
          <ac:chgData name="allie thakur" userId="f3e5fba7346f6fb8" providerId="LiveId" clId="{1C09B967-9617-4F33-9C41-D4A0CE5E31F0}" dt="2026-05-18T08:20:14.463" v="220" actId="20577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20:21.113" v="221" actId="20577"/>
        <pc:sldMkLst>
          <pc:docMk/>
          <pc:sldMk cId="0" sldId="264"/>
        </pc:sldMkLst>
        <pc:spChg chg="mod">
          <ac:chgData name="allie thakur" userId="f3e5fba7346f6fb8" providerId="LiveId" clId="{1C09B967-9617-4F33-9C41-D4A0CE5E31F0}" dt="2026-05-18T08:20:21.113" v="221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20:26.646" v="222" actId="20577"/>
        <pc:sldMkLst>
          <pc:docMk/>
          <pc:sldMk cId="0" sldId="266"/>
        </pc:sldMkLst>
        <pc:spChg chg="mod">
          <ac:chgData name="allie thakur" userId="f3e5fba7346f6fb8" providerId="LiveId" clId="{1C09B967-9617-4F33-9C41-D4A0CE5E31F0}" dt="2026-05-18T08:20:26.646" v="222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8T08:20:30.924" v="223" actId="20577"/>
        <pc:sldMkLst>
          <pc:docMk/>
          <pc:sldMk cId="0" sldId="267"/>
        </pc:sldMkLst>
        <pc:spChg chg="mod">
          <ac:chgData name="allie thakur" userId="f3e5fba7346f6fb8" providerId="LiveId" clId="{1C09B967-9617-4F33-9C41-D4A0CE5E31F0}" dt="2026-05-18T08:20:30.924" v="223" actId="20577"/>
          <ac:spMkLst>
            <pc:docMk/>
            <pc:sldMk cId="0" sldId="267"/>
            <ac:spMk id="5" creationId="{00000000-0000-0000-0000-000000000000}"/>
          </ac:spMkLst>
        </pc:spChg>
      </pc:sldChg>
      <pc:sldChg chg="delSp modSp mod">
        <pc:chgData name="allie thakur" userId="f3e5fba7346f6fb8" providerId="LiveId" clId="{1C09B967-9617-4F33-9C41-D4A0CE5E31F0}" dt="2026-05-18T08:20:52.121" v="227" actId="1076"/>
        <pc:sldMkLst>
          <pc:docMk/>
          <pc:sldMk cId="0" sldId="269"/>
        </pc:sldMkLst>
        <pc:spChg chg="mod">
          <ac:chgData name="allie thakur" userId="f3e5fba7346f6fb8" providerId="LiveId" clId="{1C09B967-9617-4F33-9C41-D4A0CE5E31F0}" dt="2026-05-18T08:20:52.121" v="227" actId="1076"/>
          <ac:spMkLst>
            <pc:docMk/>
            <pc:sldMk cId="0" sldId="269"/>
            <ac:spMk id="4" creationId="{00000000-0000-0000-0000-000000000000}"/>
          </ac:spMkLst>
        </pc:spChg>
        <pc:spChg chg="del">
          <ac:chgData name="allie thakur" userId="f3e5fba7346f6fb8" providerId="LiveId" clId="{1C09B967-9617-4F33-9C41-D4A0CE5E31F0}" dt="2026-05-18T08:20:45.218" v="226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allie thakur" userId="f3e5fba7346f6fb8" providerId="LiveId" clId="{1C09B967-9617-4F33-9C41-D4A0CE5E31F0}" dt="2026-05-18T08:20:42.501" v="225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18T08:20:39.432" v="224" actId="20577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35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Phase 1 — Review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Emotion Recognition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Multimodal Fusion of Facial and Speech Features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85953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 Thakur |  Kenesha Watt  |  Syed Anshu|  Dileep M 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069080"/>
            <a:ext cx="20116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Salas-Caceres et al.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2024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0592" y="4069080"/>
            <a:ext cx="20116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96312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Chandraumakantham et al.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2024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4069080"/>
            <a:ext cx="20116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2584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Biomimetics 2025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03136" y="4069080"/>
            <a:ext cx="20116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48856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Pragash K et al.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IJRPR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8869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we are solving and 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90472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5087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Base Paper (Springer 2024)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Salas-Caceres: Audiovisual fusion with LSTM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1305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IEEE Access 2024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34086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multimodal feature 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34056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275234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Survey Paper (2025)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296265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review of 103 MER papers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55848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337413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IJRPR 2024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58444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 hybrid deep learning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411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9959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 &amp; Our Novelty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and our contribution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emotion recognition systems analyze either facial expressions or speech independently, leading to reduced accuracy in real-world scenarios. A robust multimodal system that fuses both facial and audio features for real-time emotion recognition is needed.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facial emotion model using EfficientNet CNN on FER-2013 dataset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speech emotion model using LSTM on MFCC features from RAVDESS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feature-level fusion mechanism combining both modalities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application using live webcam and microphone (Streamlit)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80-85% accuracy — comparable to state-of-the-art offline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2569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Novelty: Real-time deployment of multimodal fusion — a critical open challenge across the field (confirmed by 103-paper systematic review)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Base Paper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 based on Fusion of Audiovisual Information with Temporal Dynamics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Salas-Caceres et al. | Springer, Multimedia Tools &amp; Applications | 2024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Salas-Caceres et al., Springer 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VGG-Face (VGG-16) for face embeddings from video frames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X-vector for audio embeddings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fusion strategies: Concatenation, PCA, Autoencoder, Embracement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classifier captures temporal dynamics across frames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RAVDESS, SAVEE, CREMA-D 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RAVDESS: 88.11% accuracy (state-of-the-art)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SAVEE: 86.75%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CREMA-D: 80.27%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Embracement fusion outperforms all other strategies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consistently beats unimodal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493008"/>
            <a:ext cx="8778240" cy="1188720"/>
          </a:xfrm>
          <a:prstGeom prst="rect">
            <a:avLst/>
          </a:prstGeom>
          <a:solidFill>
            <a:srgbClr val="FEF9E7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Our 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Evaluated on pre-recorded offline datasets only — no real-time inference. Studio-quality controlled conditions don't reflect real-world deployment.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We extend this exact approach to live real-time webcam + microphone inference — the gap this paper leaves open.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IEEE Access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 Using Feature Fusion: An LLM-Based Approach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Chandraumakantham et al. | IEEE Access, Volume 12 | 2024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Chandraumakantham et al., IEEE Access 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audio features: MFCC, loudness, pitch, spectral flux via OpenSMILE &amp; Librosa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facial Action Units (20 AUs) via PyFEAT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features to text using rule-based threshold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Concatenates audio + facial text as LLM prompt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distilRoBERTa (transformer LLM) for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augmentation (NLPAug) expands dataset 25x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93.18% accuracy on RAVDESS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93.69% accuracy on BAUM-1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cross-dataset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approach is interpretable — text shows feature importance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MFCC, pitch, spectral flux confirmed as key audio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new modalities easily added as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493008"/>
            <a:ext cx="8778240" cy="1188720"/>
          </a:xfrm>
          <a:prstGeom prst="rect">
            <a:avLst/>
          </a:prstGeom>
          <a:solidFill>
            <a:srgbClr val="FEF9E7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Our 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LLM pipeline is computationally heavy — not suitable for real-time inference. System requires full pre-recorded video files as input.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We use lightweight CNN + LSTM with direct feature fusion — same audio features (MFCC, pitch) but without LLM overhead, enabling real-time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Survey Paper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of MER: Techniques, Challenges, and Future Directions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 Mi, Gao | Biomimetics, MDPI | 2025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— Wu et al., Biomimetics MDPI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Survey Covers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review of 103 MER papers (2011-2025)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MFCC, CNN, landmarks, BERT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&amp; trimodal fusion strategies reviewed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late, hybrid and cross-modal transformer fusion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RAVDESS, IEMOCAP, MELD, DEAP, K-EmoCon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healthcare, HRI, education, entertainment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Audio-visual (AV) fusion dominates the field — 30/103 papers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 is the most proven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post-2022 papers use transformer-based fusion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outperforms pure early or late fusion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deployable MER is an open challenge — explicitly flagged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edge-deployable models achieve ~79% — room to improve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493008"/>
            <a:ext cx="8778240" cy="1188720"/>
          </a:xfrm>
          <a:prstGeom prst="rect">
            <a:avLst/>
          </a:prstGeom>
          <a:solidFill>
            <a:srgbClr val="FEF9E7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Our 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Survey of 103 papers explicitly identifies real-time deployment as the most critical unresolved challenge in the entire MER field.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Our project directly targets this gap — a live real-time system confirmed as novel by this comprehensive field-wide review.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IJRPR 2024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in Facial Expressions and Speech Using Deep Hybrid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Pragash K et al. | IJRPR, Vol 5, No 12 | 2024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 — Pragash K et al., IJRPR 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on FER-2013 for facial feature extraction → 512-dim vector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trained on RAVDESS Mel-spectrograms → 512-dim vector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vectors concatenated → 1024-dim unified vector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Random Forest, KNN used for final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 + grid search hyperparameter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datasets as our project: FER-2013 + RAVDESS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93.5%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model: 88.2%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Speech-only model: 86.4%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92.1% | Recall: 93.2%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misclassification of fear vs surprise vs prior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consistently outperforms unimodal across all metrics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493008"/>
            <a:ext cx="8778240" cy="1188720"/>
          </a:xfrm>
          <a:prstGeom prst="rect">
            <a:avLst/>
          </a:prstGeom>
          <a:solidFill>
            <a:srgbClr val="FEF9E7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Our 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Evaluated only on offline pre-recorded data. Uses traditional ML classifiers (SVM/RF) instead of end-to-end deep learning. No real-time capability or deployable application.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We use EfficientNet (transfer learning) + end-to-end deep fusion + real-time Streamlit deployment — 3 concrete improvements on the closest existing work to our project.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 of All Papers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3566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Salas-Caceres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+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(RAVDESS)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Chandraumakantham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+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(RAVDESS)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too 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Biomimetics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open 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Pragash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IJRPR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+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(FER+RAVDESS)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Offline, trad.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+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— Novelty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 4 papers confirm: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Audio multimodal fusion consistently outperforms any single modality (88–93% vs 86–90%)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facial features + LSTM for temporal audio modeling is the proven gold-standard architecture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FER-2013 and RAVDESS are the right benchmark datasets — used across all reviewed papers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is an OPEN CHALLENGE explicitly identified across the entire field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Contributions: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3090672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+ mic inference — not addressed by any of the 4 reviewed papers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3090672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Transfer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566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basic CNN used in IJRPR paper — higher accuracy from pre-training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090672"/>
            <a:ext cx="27432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Deep 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ML classifiers — fully deep learning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80-85% accuracy on FER-2013 + RAVDESS  |  Real-time Streamlit app  |  Feature-level fusion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196" y="1849374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6377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699" y="32639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1311</Words>
  <Application>Microsoft Office PowerPoint</Application>
  <PresentationFormat>On-screen Show (16:9)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 Presentation - Multimodal Emotion Recognition</dc:title>
  <dc:subject>PptxGenJS Presentation</dc:subject>
  <dc:creator>PptxGenJS</dc:creator>
  <cp:lastModifiedBy>allie thakur</cp:lastModifiedBy>
  <cp:revision>1</cp:revision>
  <dcterms:created xsi:type="dcterms:W3CDTF">2026-03-14T05:35:32Z</dcterms:created>
  <dcterms:modified xsi:type="dcterms:W3CDTF">2026-05-18T08:20:52Z</dcterms:modified>
</cp:coreProperties>
</file>